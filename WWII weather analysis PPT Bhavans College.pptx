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Libre Baskerville" panose="02000000000000000000" pitchFamily="2" charset="0"/>
      <p:regular r:id="rId12"/>
      <p:bold r:id="rId13"/>
      <p:italic r:id="rId14"/>
    </p:embeddedFont>
    <p:embeddedFont>
      <p:font typeface="Libre Franklin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Baskervill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Baskervill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838200" y="736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838200" y="2162175"/>
            <a:ext cx="10515600" cy="412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736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2143125"/>
            <a:ext cx="5181600" cy="403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72200" y="2143125"/>
            <a:ext cx="5181600" cy="403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39788" y="7080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21002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3006725"/>
            <a:ext cx="5157787" cy="318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172200" y="21097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6172200" y="3006725"/>
            <a:ext cx="5183188" cy="318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736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39788" y="838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Baskervil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39788" y="2486024"/>
            <a:ext cx="3932237" cy="338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9788" y="828675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Baskervil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839788" y="2524124"/>
            <a:ext cx="3932237" cy="334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8200" y="736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4031456" y="-1031081"/>
            <a:ext cx="41290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7422356" y="2245519"/>
            <a:ext cx="523398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2088356" y="-307181"/>
            <a:ext cx="523398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736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Baskerville"/>
              <a:buNone/>
              <a:defRPr sz="4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2162175"/>
            <a:ext cx="10515600" cy="412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32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60400" dist="50800" dir="6600000" algn="ctr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471987" y="1982788"/>
            <a:ext cx="3248025" cy="3008311"/>
          </a:xfrm>
          <a:prstGeom prst="rect">
            <a:avLst/>
          </a:prstGeom>
          <a:blipFill rotWithShape="1">
            <a:blip r:embed="rId13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pytho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1230272" y="2021101"/>
            <a:ext cx="9449493" cy="1922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IN" b="1" u="dotDash" dirty="0"/>
              <a:t>WWII  Weather Analysis.</a:t>
            </a:r>
            <a:endParaRPr dirty="0"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546241" y="4208862"/>
            <a:ext cx="9743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IN" b="1" u="sng" dirty="0"/>
              <a:t>-Predicting Maximum Temperature from minimum Temperature Using Regression.</a:t>
            </a:r>
            <a:br>
              <a:rPr lang="en-IN" dirty="0"/>
            </a:br>
            <a:endParaRPr dirty="0"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DC6101-FAA3-20EC-7758-15784B257894}"/>
              </a:ext>
            </a:extLst>
          </p:cNvPr>
          <p:cNvSpPr txBox="1"/>
          <p:nvPr/>
        </p:nvSpPr>
        <p:spPr>
          <a:xfrm>
            <a:off x="10174377" y="6129992"/>
            <a:ext cx="2230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Name:-</a:t>
            </a:r>
            <a:r>
              <a:rPr lang="en-US" dirty="0" err="1"/>
              <a:t>Shreya.R.Gurav</a:t>
            </a:r>
            <a:endParaRPr lang="en-US" dirty="0"/>
          </a:p>
          <a:p>
            <a:r>
              <a:rPr lang="en-US" dirty="0" err="1"/>
              <a:t>Rollno</a:t>
            </a:r>
            <a:r>
              <a:rPr lang="en-US" dirty="0"/>
              <a:t>:-MSAS105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216029" y="1159233"/>
            <a:ext cx="8144199" cy="2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</a:pPr>
            <a:r>
              <a:rPr lang="en-US" sz="2800" b="1" u="sng" dirty="0"/>
              <a:t>INTRODUCTION:-</a:t>
            </a:r>
            <a:endParaRPr sz="2800" b="1" u="sng" dirty="0"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327996" y="1668980"/>
            <a:ext cx="10280910" cy="4801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Weather conditions played a critical role in World War II operations</a:t>
            </a:r>
            <a:r>
              <a:rPr lang="en-US" sz="1800" dirty="0">
                <a:solidFill>
                  <a:schemeClr val="tx1"/>
                </a:solidFill>
              </a:rPr>
              <a:t>, often</a:t>
            </a:r>
          </a:p>
          <a:p>
            <a:r>
              <a:rPr lang="en-US" sz="1800" dirty="0">
                <a:solidFill>
                  <a:schemeClr val="tx1"/>
                </a:solidFill>
              </a:rPr>
              <a:t> influencing the timing and success of military missions. A famous example is the </a:t>
            </a:r>
          </a:p>
          <a:p>
            <a:r>
              <a:rPr lang="en-US" sz="1800" dirty="0">
                <a:solidFill>
                  <a:schemeClr val="tx1"/>
                </a:solidFill>
              </a:rPr>
              <a:t>D-Day landings, which were almost delayed due to poor weather forecasts.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This project explores historical weather data from that era to analyze the</a:t>
            </a:r>
          </a:p>
          <a:p>
            <a:r>
              <a:rPr lang="en-US" sz="1800" dirty="0">
                <a:solidFill>
                  <a:schemeClr val="tx1"/>
                </a:solidFill>
              </a:rPr>
              <a:t> relationship between </a:t>
            </a:r>
            <a:r>
              <a:rPr lang="en-US" sz="1800" b="1" dirty="0">
                <a:solidFill>
                  <a:schemeClr val="tx1"/>
                </a:solidFill>
              </a:rPr>
              <a:t>daily minimum and maximum temperatures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By building a </a:t>
            </a:r>
            <a:r>
              <a:rPr lang="en-US" sz="1800" b="1" dirty="0">
                <a:solidFill>
                  <a:schemeClr val="tx1"/>
                </a:solidFill>
              </a:rPr>
              <a:t>simple linear regression model</a:t>
            </a:r>
            <a:r>
              <a:rPr lang="en-US" sz="1800" dirty="0">
                <a:solidFill>
                  <a:schemeClr val="tx1"/>
                </a:solidFill>
              </a:rPr>
              <a:t>, we aim to predict </a:t>
            </a:r>
            <a:r>
              <a:rPr lang="en-US" sz="1800" b="1" dirty="0">
                <a:solidFill>
                  <a:schemeClr val="tx1"/>
                </a:solidFill>
              </a:rPr>
              <a:t>maximum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 temperature</a:t>
            </a:r>
            <a:r>
              <a:rPr lang="en-US" sz="1800" dirty="0">
                <a:solidFill>
                  <a:schemeClr val="tx1"/>
                </a:solidFill>
              </a:rPr>
              <a:t> based on </a:t>
            </a:r>
            <a:r>
              <a:rPr lang="en-US" sz="1800" b="1" dirty="0">
                <a:solidFill>
                  <a:schemeClr val="tx1"/>
                </a:solidFill>
              </a:rPr>
              <a:t>minimum temperature</a:t>
            </a:r>
            <a:r>
              <a:rPr lang="en-US" sz="1800" dirty="0">
                <a:solidFill>
                  <a:schemeClr val="tx1"/>
                </a:solidFill>
              </a:rPr>
              <a:t>, and evaluate how well this model</a:t>
            </a:r>
          </a:p>
          <a:p>
            <a:r>
              <a:rPr lang="en-US" sz="1800" dirty="0">
                <a:solidFill>
                  <a:schemeClr val="tx1"/>
                </a:solidFill>
              </a:rPr>
              <a:t> performs using statistical metrics and visual insights.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38200" y="736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sz="2800" b="1" u="sng" dirty="0"/>
              <a:t>Objectives</a:t>
            </a:r>
            <a:r>
              <a:rPr lang="en-IN" b="1" u="sng" dirty="0"/>
              <a:t>:-</a:t>
            </a:r>
            <a:endParaRPr u="sng" dirty="0"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672830" y="1992312"/>
            <a:ext cx="10515600" cy="412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dirty="0"/>
              <a:t>Build a regression model to predict the Temperature.</a:t>
            </a:r>
          </a:p>
          <a:p>
            <a:pPr lvl="0"/>
            <a:r>
              <a:rPr lang="en-IN" sz="2400" dirty="0"/>
              <a:t>Analyse the relationship between minimum and maximum temperature.</a:t>
            </a:r>
          </a:p>
          <a:p>
            <a:pPr lvl="0"/>
            <a:r>
              <a:rPr lang="en-IN" sz="2400" dirty="0"/>
              <a:t>Use Python to build a </a:t>
            </a:r>
            <a:r>
              <a:rPr lang="en-IN" sz="2400" b="1" dirty="0"/>
              <a:t>linear regression model</a:t>
            </a:r>
            <a:r>
              <a:rPr lang="en-IN" sz="2400" dirty="0"/>
              <a:t>.</a:t>
            </a:r>
          </a:p>
          <a:p>
            <a:pPr lvl="0"/>
            <a:r>
              <a:rPr lang="en-IN" sz="2400" dirty="0"/>
              <a:t>Evaluate model performance using:</a:t>
            </a:r>
          </a:p>
          <a:p>
            <a:pPr marL="114300" indent="0">
              <a:buNone/>
            </a:pPr>
            <a:r>
              <a:rPr lang="en-IN" sz="2400" b="1" dirty="0"/>
              <a:t>     </a:t>
            </a:r>
            <a:r>
              <a:rPr lang="en-IN" sz="2000" b="1" dirty="0"/>
              <a:t>Mean Squared Error (MSE)</a:t>
            </a:r>
            <a:endParaRPr lang="en-IN" sz="2000" dirty="0"/>
          </a:p>
          <a:p>
            <a:pPr marL="114300" indent="0">
              <a:buNone/>
            </a:pPr>
            <a:r>
              <a:rPr lang="en-IN" sz="2000" b="1" dirty="0"/>
              <a:t>     R² Score</a:t>
            </a:r>
            <a:endParaRPr lang="en-IN" sz="2000" dirty="0"/>
          </a:p>
          <a:p>
            <a:pPr lvl="0"/>
            <a:r>
              <a:rPr lang="en-IN" sz="2400" dirty="0"/>
              <a:t>Visualize actual vs. predicted temperature values.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838200" y="736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sz="2800" b="1" u="sng" dirty="0"/>
              <a:t>DATA PREPARATION &amp; MODEL BUILDING</a:t>
            </a:r>
            <a:r>
              <a:rPr lang="en-IN" sz="2800" b="1" dirty="0"/>
              <a:t>:-</a:t>
            </a:r>
            <a:endParaRPr sz="2800" b="1" dirty="0"/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559838" y="2062163"/>
            <a:ext cx="10403632" cy="3937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indent="-285750">
              <a:spcBef>
                <a:spcPts val="0"/>
              </a:spcBef>
              <a:buSzPts val="2800"/>
            </a:pPr>
            <a:r>
              <a:rPr lang="en-IN" sz="1600" b="1" u="sng" dirty="0"/>
              <a:t>Data Loading Cleaning :-</a:t>
            </a:r>
            <a:r>
              <a:rPr lang="en-IN" sz="1600" dirty="0"/>
              <a:t>By using pandas in python, the dataset of weather was loaded. The missing value were handled by using </a:t>
            </a:r>
            <a:r>
              <a:rPr lang="en-IN" sz="1600" dirty="0" err="1"/>
              <a:t>dropna</a:t>
            </a:r>
            <a:r>
              <a:rPr lang="en-IN" sz="1600" dirty="0"/>
              <a:t>() function.</a:t>
            </a:r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IN" sz="1600" dirty="0"/>
          </a:p>
          <a:p>
            <a:pPr marL="463550" indent="-285750">
              <a:spcBef>
                <a:spcPts val="0"/>
              </a:spcBef>
              <a:buSzPts val="2800"/>
            </a:pPr>
            <a:r>
              <a:rPr lang="en-IN" sz="1600" b="1" u="sng" dirty="0"/>
              <a:t>Feature Selection:-</a:t>
            </a:r>
            <a:r>
              <a:rPr lang="en-IN" dirty="0"/>
              <a:t> </a:t>
            </a:r>
            <a:r>
              <a:rPr lang="en-IN" sz="1600" dirty="0"/>
              <a:t>The </a:t>
            </a:r>
            <a:r>
              <a:rPr lang="en-IN" sz="1600" dirty="0" err="1"/>
              <a:t>Min_temperature</a:t>
            </a:r>
            <a:r>
              <a:rPr lang="en-IN" sz="1600" dirty="0"/>
              <a:t> column was selected as independent variable to help predict the </a:t>
            </a:r>
            <a:r>
              <a:rPr lang="en-IN" sz="1600" dirty="0" err="1"/>
              <a:t>Max_temperature</a:t>
            </a:r>
            <a:r>
              <a:rPr lang="en-IN" sz="1600" dirty="0"/>
              <a:t> which was selected as dependent variable. Thus, the analysis was done using simple linear regression.</a:t>
            </a:r>
          </a:p>
          <a:p>
            <a:pPr marL="228600" indent="-50800">
              <a:spcBef>
                <a:spcPts val="0"/>
              </a:spcBef>
              <a:buSzPts val="2800"/>
              <a:buNone/>
            </a:pPr>
            <a:endParaRPr lang="en-IN" sz="1600" b="1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IN" sz="1600" b="1" dirty="0"/>
          </a:p>
          <a:p>
            <a:pPr marL="463550" indent="-285750">
              <a:spcBef>
                <a:spcPts val="0"/>
              </a:spcBef>
              <a:buSzPts val="2800"/>
            </a:pPr>
            <a:r>
              <a:rPr lang="en-IN" sz="1600" b="1" u="sng" dirty="0"/>
              <a:t>Model Building</a:t>
            </a:r>
            <a:r>
              <a:rPr lang="en-IN" sz="1600" b="1" dirty="0"/>
              <a:t>:-</a:t>
            </a:r>
            <a:r>
              <a:rPr lang="en-IN" dirty="0"/>
              <a:t> </a:t>
            </a:r>
            <a:r>
              <a:rPr lang="en-IN" sz="1600" dirty="0"/>
              <a:t>A linear regression model was creates using  </a:t>
            </a:r>
            <a:r>
              <a:rPr lang="en-IN" sz="1600" dirty="0" err="1"/>
              <a:t>LinearRegression</a:t>
            </a:r>
            <a:r>
              <a:rPr lang="en-IN" sz="1600" dirty="0"/>
              <a:t>() from </a:t>
            </a:r>
            <a:r>
              <a:rPr lang="en-IN" sz="1600" dirty="0" err="1"/>
              <a:t>sklearn.linear_model</a:t>
            </a:r>
            <a:r>
              <a:rPr lang="en-IN" sz="1600" dirty="0"/>
              <a:t> </a:t>
            </a:r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sz="1600" b="1" dirty="0"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228282" y="708025"/>
            <a:ext cx="5938517" cy="97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sz="2800" b="1" u="sng" dirty="0"/>
              <a:t>Correlation Analysis:-</a:t>
            </a:r>
            <a:endParaRPr sz="2800" b="1" u="sng" dirty="0"/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9389BB-A012-A993-C24B-2A2D3A8B8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793" y="1441450"/>
            <a:ext cx="603885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031D387D-EB28-D4AF-D43F-574D7236229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8533" y="2030066"/>
            <a:ext cx="532701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heatmap shows the correlation between daily weather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our case,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between minimum and maximum temperature is high (e.g., 0.87)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suggests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temperature is a strong predictor of maximum temperature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suitable for linear regression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530605" y="619987"/>
            <a:ext cx="7072618" cy="112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sz="2800" b="1" u="sng" dirty="0"/>
              <a:t>Evaluation &amp; Visualization:-</a:t>
            </a:r>
            <a:endParaRPr lang="en-IN" sz="2800" b="1" dirty="0"/>
          </a:p>
        </p:txBody>
      </p:sp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203C5-1122-80BC-0D01-ECA78696E3C4}"/>
              </a:ext>
            </a:extLst>
          </p:cNvPr>
          <p:cNvSpPr txBox="1"/>
          <p:nvPr/>
        </p:nvSpPr>
        <p:spPr>
          <a:xfrm>
            <a:off x="530605" y="1745743"/>
            <a:ext cx="62225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R-square:0.7670</a:t>
            </a:r>
            <a:endParaRPr lang="en-IN" dirty="0"/>
          </a:p>
          <a:p>
            <a:r>
              <a:rPr lang="en-US" dirty="0"/>
              <a:t>The R² score of 0.767 means that 76.7% of the variation in maximum temperature is explained by minimum temperature, indicating a strong linear relationship between the two.</a:t>
            </a:r>
          </a:p>
          <a:p>
            <a:endParaRPr lang="en-US" dirty="0"/>
          </a:p>
          <a:p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Mean Squared Error (MSE):</a:t>
            </a:r>
            <a:endParaRPr lang="en-IN" dirty="0"/>
          </a:p>
          <a:p>
            <a:r>
              <a:rPr lang="en-US" dirty="0"/>
              <a:t>MSE of 17.63 indicates reasonable accuracy, with some expected error due to using only one input variable.</a:t>
            </a:r>
            <a:r>
              <a:rPr lang="en-IN" dirty="0"/>
              <a:t> </a:t>
            </a:r>
          </a:p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2D19BAD-C73F-E4AD-D936-F9375D8F4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028" y="1423987"/>
            <a:ext cx="5016616" cy="46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017B46-ABE2-8DA0-527C-B7C0EF1B1B1A}"/>
              </a:ext>
            </a:extLst>
          </p:cNvPr>
          <p:cNvSpPr txBox="1"/>
          <p:nvPr/>
        </p:nvSpPr>
        <p:spPr>
          <a:xfrm>
            <a:off x="530605" y="4635204"/>
            <a:ext cx="54954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The graph shows a strong linear relationship.</a:t>
            </a:r>
            <a:br>
              <a:rPr lang="en-US" dirty="0"/>
            </a:br>
            <a:r>
              <a:rPr lang="en-US" b="1" dirty="0"/>
              <a:t>Points near the diagonal line indicate good predictions, though some outliers suggest adding more features could improve accuracy.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070B2D7-5E3A-7D3A-B04E-8C2671562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3009"/>
            <a:ext cx="3736433" cy="270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ECF01FB-F7ED-DAEF-30BC-F7585BF02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961" y="1989042"/>
            <a:ext cx="3849391" cy="2519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F5A791B9-C4B5-6A4F-7D23-3CD256F45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880" y="1989042"/>
            <a:ext cx="3736432" cy="271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EB176A-A0B1-FBF0-BF0E-714439FC5116}"/>
              </a:ext>
            </a:extLst>
          </p:cNvPr>
          <p:cNvSpPr txBox="1"/>
          <p:nvPr/>
        </p:nvSpPr>
        <p:spPr>
          <a:xfrm>
            <a:off x="200800" y="5108895"/>
            <a:ext cx="36273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Residuals are mostly centered around zero, indicating linearity is satisfied.</a:t>
            </a:r>
            <a:br>
              <a:rPr lang="en-US" dirty="0"/>
            </a:br>
            <a:r>
              <a:rPr lang="en-US" b="1" dirty="0"/>
              <a:t>Slight spread suggests mild heteroscedasticity (non-constant variance).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F262C-3617-2829-C6E8-96E487C0773F}"/>
              </a:ext>
            </a:extLst>
          </p:cNvPr>
          <p:cNvSpPr txBox="1"/>
          <p:nvPr/>
        </p:nvSpPr>
        <p:spPr>
          <a:xfrm>
            <a:off x="4569779" y="5108895"/>
            <a:ext cx="30116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Residuals are approximately normally distributed,</a:t>
            </a:r>
            <a:br>
              <a:rPr lang="en-US" dirty="0"/>
            </a:br>
            <a:r>
              <a:rPr lang="en-US" b="1" dirty="0"/>
              <a:t>indicating the normality assumption is satisfied.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D35F3-894D-1674-E21F-E8519E78A2BA}"/>
              </a:ext>
            </a:extLst>
          </p:cNvPr>
          <p:cNvSpPr txBox="1"/>
          <p:nvPr/>
        </p:nvSpPr>
        <p:spPr>
          <a:xfrm>
            <a:off x="8363826" y="5108895"/>
            <a:ext cx="34394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Most points lie on the straight line,</a:t>
            </a:r>
            <a:br>
              <a:rPr lang="en-US" dirty="0"/>
            </a:br>
            <a:r>
              <a:rPr lang="en-US" b="1" dirty="0"/>
              <a:t>indicating residuals are approximately normal, with slight deviations at the extremes.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FA550-FBEF-FC92-6711-ADC42633F6E0}"/>
              </a:ext>
            </a:extLst>
          </p:cNvPr>
          <p:cNvSpPr txBox="1"/>
          <p:nvPr/>
        </p:nvSpPr>
        <p:spPr>
          <a:xfrm>
            <a:off x="444616" y="897622"/>
            <a:ext cx="5251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ASSUMPTIONS:-</a:t>
            </a:r>
            <a:endParaRPr lang="en-IN" sz="2800" b="1" u="sng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839788" y="838200"/>
            <a:ext cx="6383133" cy="87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Baskerville"/>
              <a:buNone/>
            </a:pPr>
            <a:r>
              <a:rPr lang="en-US" sz="2800" b="1" u="sng" dirty="0"/>
              <a:t>CONCLUSION</a:t>
            </a:r>
            <a:r>
              <a:rPr lang="en-US" b="1" u="sng" dirty="0"/>
              <a:t>:-</a:t>
            </a:r>
            <a:endParaRPr b="1" u="sng" dirty="0"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838200" y="1962150"/>
            <a:ext cx="1037788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5400">
              <a:spcBef>
                <a:spcPts val="0"/>
              </a:spcBef>
              <a:buNone/>
            </a:pPr>
            <a:r>
              <a:rPr lang="en-IN" sz="1800" dirty="0"/>
              <a:t>By using the simple linear regression in python, the maximum temperature</a:t>
            </a:r>
          </a:p>
          <a:p>
            <a:pPr marL="228600" indent="-25400">
              <a:spcBef>
                <a:spcPts val="0"/>
              </a:spcBef>
              <a:buNone/>
            </a:pPr>
            <a:endParaRPr lang="en-IN" sz="1800" dirty="0"/>
          </a:p>
          <a:p>
            <a:pPr marL="228600" indent="-25400">
              <a:spcBef>
                <a:spcPts val="0"/>
              </a:spcBef>
              <a:buNone/>
            </a:pPr>
            <a:r>
              <a:rPr lang="en-IN" sz="1800" dirty="0"/>
              <a:t> is predicted on the basis of minimum temperature. The R-square value is</a:t>
            </a:r>
          </a:p>
          <a:p>
            <a:pPr marL="228600" indent="-25400">
              <a:spcBef>
                <a:spcPts val="0"/>
              </a:spcBef>
              <a:buNone/>
            </a:pPr>
            <a:endParaRPr lang="en-IN" sz="1800" dirty="0"/>
          </a:p>
          <a:p>
            <a:pPr marL="228600" indent="-25400">
              <a:spcBef>
                <a:spcPts val="0"/>
              </a:spcBef>
              <a:buNone/>
            </a:pPr>
            <a:r>
              <a:rPr lang="en-IN" sz="1800" dirty="0"/>
              <a:t> 0.767 i.e. with 76.7% of accuracy we can predict the values. The MSE value is</a:t>
            </a:r>
          </a:p>
          <a:p>
            <a:pPr marL="228600" indent="-25400">
              <a:spcBef>
                <a:spcPts val="0"/>
              </a:spcBef>
              <a:buNone/>
            </a:pPr>
            <a:endParaRPr lang="en-IN" sz="1800" dirty="0"/>
          </a:p>
          <a:p>
            <a:pPr marL="228600" indent="-25400">
              <a:spcBef>
                <a:spcPts val="0"/>
              </a:spcBef>
              <a:buNone/>
            </a:pPr>
            <a:r>
              <a:rPr lang="en-IN" sz="1800" dirty="0"/>
              <a:t> 17.36. thus, we can say the predicted value is close to actual value though not </a:t>
            </a:r>
          </a:p>
          <a:p>
            <a:pPr marL="228600" indent="-25400">
              <a:spcBef>
                <a:spcPts val="0"/>
              </a:spcBef>
              <a:buNone/>
            </a:pPr>
            <a:endParaRPr lang="en-IN" sz="1800" dirty="0"/>
          </a:p>
          <a:p>
            <a:pPr marL="228600" indent="-25400">
              <a:spcBef>
                <a:spcPts val="0"/>
              </a:spcBef>
              <a:buNone/>
            </a:pPr>
            <a:r>
              <a:rPr lang="en-IN" sz="1800" dirty="0"/>
              <a:t>perfect. However, we can say the model build give good level of accuracy for </a:t>
            </a:r>
          </a:p>
          <a:p>
            <a:pPr marL="228600" indent="-25400">
              <a:spcBef>
                <a:spcPts val="0"/>
              </a:spcBef>
              <a:buNone/>
            </a:pPr>
            <a:endParaRPr lang="en-IN" sz="1800" dirty="0"/>
          </a:p>
          <a:p>
            <a:pPr marL="228600" indent="-25400">
              <a:spcBef>
                <a:spcPts val="0"/>
              </a:spcBef>
              <a:buNone/>
            </a:pPr>
            <a:r>
              <a:rPr lang="en-IN" sz="1800" dirty="0"/>
              <a:t>a single-variable regression. We know the 23.3% of variation is unexplained </a:t>
            </a:r>
          </a:p>
          <a:p>
            <a:pPr marL="228600" indent="-25400">
              <a:spcBef>
                <a:spcPts val="0"/>
              </a:spcBef>
              <a:buNone/>
            </a:pPr>
            <a:endParaRPr lang="en-IN" sz="1800" dirty="0"/>
          </a:p>
          <a:p>
            <a:pPr marL="228600" indent="-25400">
              <a:spcBef>
                <a:spcPts val="0"/>
              </a:spcBef>
              <a:buNone/>
            </a:pPr>
            <a:r>
              <a:rPr lang="en-IN" sz="1800" dirty="0"/>
              <a:t>as other factors like precipitation, </a:t>
            </a:r>
            <a:r>
              <a:rPr lang="en-IN" sz="1800" dirty="0" err="1"/>
              <a:t>WindGustSpd</a:t>
            </a:r>
            <a:r>
              <a:rPr lang="en-IN" sz="1800" dirty="0"/>
              <a:t> , </a:t>
            </a:r>
            <a:r>
              <a:rPr lang="en-IN" sz="1800" dirty="0" err="1"/>
              <a:t>MeanTemp</a:t>
            </a:r>
            <a:r>
              <a:rPr lang="en-IN" sz="1800" dirty="0"/>
              <a:t>, Snowfall, </a:t>
            </a:r>
          </a:p>
          <a:p>
            <a:pPr marL="228600" indent="-25400">
              <a:spcBef>
                <a:spcPts val="0"/>
              </a:spcBef>
              <a:buNone/>
            </a:pPr>
            <a:endParaRPr lang="en-IN" sz="1800" dirty="0"/>
          </a:p>
          <a:p>
            <a:pPr marL="228600" indent="-25400">
              <a:spcBef>
                <a:spcPts val="0"/>
              </a:spcBef>
              <a:buNone/>
            </a:pPr>
            <a:r>
              <a:rPr lang="en-IN" sz="1800" dirty="0"/>
              <a:t>Poor Weather is not considered. To increase the accuracy in actual and </a:t>
            </a:r>
          </a:p>
          <a:p>
            <a:pPr marL="228600" indent="-25400">
              <a:spcBef>
                <a:spcPts val="0"/>
              </a:spcBef>
              <a:buNone/>
            </a:pPr>
            <a:endParaRPr lang="en-IN" sz="1800" dirty="0"/>
          </a:p>
          <a:p>
            <a:pPr marL="228600" indent="-25400">
              <a:spcBef>
                <a:spcPts val="0"/>
              </a:spcBef>
              <a:buNone/>
            </a:pPr>
            <a:r>
              <a:rPr lang="en-IN" sz="1800" dirty="0"/>
              <a:t>predicted value we can used multiple linear regression. </a:t>
            </a:r>
          </a:p>
          <a:p>
            <a:pPr marL="228600" lvl="0" indent="-25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839788" y="828675"/>
            <a:ext cx="4168439" cy="798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sz="2800" b="1" u="sng" dirty="0"/>
              <a:t>BIBLOGRAPHY</a:t>
            </a:r>
            <a:r>
              <a:rPr lang="en-IN" u="sng" dirty="0"/>
              <a:t>:-</a:t>
            </a:r>
            <a:endParaRPr u="sng" dirty="0"/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839788" y="1756568"/>
            <a:ext cx="8220322" cy="334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IN" b="1" u="sng" dirty="0"/>
              <a:t>DATASET:</a:t>
            </a:r>
            <a:r>
              <a:rPr lang="en-IN" dirty="0"/>
              <a:t> The Aerial Bombing Operations of World War Two dataset</a:t>
            </a:r>
          </a:p>
          <a:p>
            <a:pPr marL="228600" lvl="0" indent="0"/>
            <a:endParaRPr lang="en-IN" dirty="0"/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IN" b="1" u="sng" dirty="0" err="1"/>
              <a:t>Googlecolab</a:t>
            </a:r>
            <a:r>
              <a:rPr lang="en-IN" b="1" u="sng" dirty="0"/>
              <a:t> :</a:t>
            </a:r>
            <a:r>
              <a:rPr lang="en-IN" dirty="0"/>
              <a:t> </a:t>
            </a:r>
            <a:r>
              <a:rPr lang="en-IN" u="sng" dirty="0">
                <a:hlinkClick r:id="rId3"/>
              </a:rPr>
              <a:t>https://colab.research.google.com</a:t>
            </a:r>
            <a:endParaRPr lang="en-IN" u="sng" dirty="0"/>
          </a:p>
          <a:p>
            <a:pPr marL="228600" lvl="0" indent="0"/>
            <a:endParaRPr lang="en-IN" dirty="0"/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IN" b="1" u="sng" dirty="0"/>
              <a:t>LIBRARIES USED:</a:t>
            </a:r>
            <a:r>
              <a:rPr lang="en-IN" dirty="0"/>
              <a:t> pandas, </a:t>
            </a:r>
            <a:r>
              <a:rPr lang="en-IN" dirty="0" err="1"/>
              <a:t>sklearn.model_selection</a:t>
            </a:r>
            <a:r>
              <a:rPr lang="en-IN" dirty="0"/>
              <a:t>, </a:t>
            </a:r>
            <a:r>
              <a:rPr lang="en-IN" dirty="0" err="1"/>
              <a:t>sklearn.linear_model</a:t>
            </a:r>
            <a:r>
              <a:rPr lang="en-IN" dirty="0"/>
              <a:t>,  </a:t>
            </a:r>
          </a:p>
          <a:p>
            <a:pPr marL="228600" lvl="0" indent="0"/>
            <a:r>
              <a:rPr lang="en-IN" dirty="0"/>
              <a:t>                                          </a:t>
            </a:r>
            <a:r>
              <a:rPr lang="en-IN" dirty="0" err="1"/>
              <a:t>matplotlib.pyplot</a:t>
            </a:r>
            <a:r>
              <a:rPr lang="en-IN" dirty="0"/>
              <a:t>, </a:t>
            </a:r>
            <a:r>
              <a:rPr lang="en-IN" dirty="0" err="1"/>
              <a:t>sklearn.metrics,seaborn</a:t>
            </a:r>
            <a:endParaRPr lang="en-IN" dirty="0"/>
          </a:p>
          <a:p>
            <a:pPr marL="228600" lvl="0" indent="0"/>
            <a:endParaRPr lang="en-IN" dirty="0"/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IN" b="1" u="sng" dirty="0"/>
              <a:t>PYTHON BASIC:</a:t>
            </a:r>
            <a:r>
              <a:rPr lang="en-IN" dirty="0"/>
              <a:t> </a:t>
            </a:r>
            <a:r>
              <a:rPr lang="en-IN" u="sng" dirty="0">
                <a:hlinkClick r:id="rId4"/>
              </a:rPr>
              <a:t>https://www.python.org/</a:t>
            </a:r>
            <a:endParaRPr lang="en-IN" u="sng" dirty="0"/>
          </a:p>
          <a:p>
            <a:pPr marL="228600" lvl="0" indent="0"/>
            <a:endParaRPr lang="en-IN" dirty="0"/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en-IN" b="1" u="sng" dirty="0"/>
              <a:t>EDA processing</a:t>
            </a:r>
            <a:r>
              <a:rPr lang="en-IN" u="sng" dirty="0"/>
              <a:t>:</a:t>
            </a:r>
            <a:r>
              <a:rPr lang="en-IN" dirty="0"/>
              <a:t> college notes.</a:t>
            </a:r>
          </a:p>
          <a:p>
            <a:r>
              <a:rPr lang="en-IN" u="sng" dirty="0"/>
              <a:t> </a:t>
            </a:r>
            <a:endParaRPr lang="en-IN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</p:txBody>
      </p:sp>
      <p:sp>
        <p:nvSpPr>
          <p:cNvPr id="151" name="Google Shape;151;p21"/>
          <p:cNvSpPr txBox="1">
            <a:spLocks noGrp="1"/>
          </p:cNvSpPr>
          <p:nvPr>
            <p:ph type="sldNum" idx="12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8111A2-B39A-8463-12FB-1E9FEDC4902F}"/>
              </a:ext>
            </a:extLst>
          </p:cNvPr>
          <p:cNvSpPr txBox="1"/>
          <p:nvPr/>
        </p:nvSpPr>
        <p:spPr>
          <a:xfrm>
            <a:off x="8205132" y="5854653"/>
            <a:ext cx="3755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THANK YOU!!</a:t>
            </a:r>
            <a:endParaRPr lang="en-IN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havans default">
      <a:dk1>
        <a:srgbClr val="000000"/>
      </a:dk1>
      <a:lt1>
        <a:srgbClr val="FFFFFF"/>
      </a:lt1>
      <a:dk2>
        <a:srgbClr val="212745"/>
      </a:dk2>
      <a:lt2>
        <a:srgbClr val="F2F2F2"/>
      </a:lt2>
      <a:accent1>
        <a:srgbClr val="780000"/>
      </a:accent1>
      <a:accent2>
        <a:srgbClr val="C1121F"/>
      </a:accent2>
      <a:accent3>
        <a:srgbClr val="FDF0D5"/>
      </a:accent3>
      <a:accent4>
        <a:srgbClr val="003049"/>
      </a:accent4>
      <a:accent5>
        <a:srgbClr val="669BBC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682</Words>
  <Application>Microsoft Office PowerPoint</Application>
  <PresentationFormat>Widescreen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Libre Baskerville</vt:lpstr>
      <vt:lpstr>Wingdings</vt:lpstr>
      <vt:lpstr>Arial</vt:lpstr>
      <vt:lpstr>Calibri</vt:lpstr>
      <vt:lpstr>Libre Franklin</vt:lpstr>
      <vt:lpstr>Office Theme</vt:lpstr>
      <vt:lpstr>WWII  Weather Analysis.</vt:lpstr>
      <vt:lpstr>INTRODUCTION:-</vt:lpstr>
      <vt:lpstr>Objectives:-</vt:lpstr>
      <vt:lpstr>DATA PREPARATION &amp; MODEL BUILDING:-</vt:lpstr>
      <vt:lpstr>Correlation Analysis:-</vt:lpstr>
      <vt:lpstr>Evaluation &amp; Visualization:-</vt:lpstr>
      <vt:lpstr>PowerPoint Presentation</vt:lpstr>
      <vt:lpstr>CONCLUSION:-</vt:lpstr>
      <vt:lpstr>BIBLOGRAPHY:-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Gandhi Classes</dc:creator>
  <cp:lastModifiedBy>shreya gurav</cp:lastModifiedBy>
  <cp:revision>2</cp:revision>
  <dcterms:modified xsi:type="dcterms:W3CDTF">2025-07-27T08:27:13Z</dcterms:modified>
</cp:coreProperties>
</file>